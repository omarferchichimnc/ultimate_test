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237691-3180-4334-A452-923BAE4596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ED27FE-833A-4C54-B352-6F6BCB2FA1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E4AB87-93B8-4011-AED7-FF88530CB5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A5BD4B-6BBE-4338-A29F-A0546F5EC0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C9E48E-521A-40FD-96B2-6FB02F581A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06FDD4-8EA9-4BF6-903B-E5989E9A35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59FB1B-D618-4420-91F8-94EEE6AD28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2E7DBF-5BD2-43F2-A46F-3F6AD04B64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DC9B0A-1B63-45BB-B1E8-0518D6FB8F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9A68E3-8304-443E-B10B-F24E7E71EB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82EF58-95F4-4B4E-BB9A-E2548F4C48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6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logo_white.png"/>
          <p:cNvPicPr/>
          <p:nvPr/>
        </p:nvPicPr>
        <p:blipFill>
          <a:blip r:embed="rId1"/>
          <a:stretch/>
        </p:blipFill>
        <p:spPr>
          <a:xfrm>
            <a:off x="640080" y="384120"/>
            <a:ext cx="1782720" cy="111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planes.png"/>
          <p:cNvPicPr/>
          <p:nvPr/>
        </p:nvPicPr>
        <p:blipFill>
          <a:blip r:embed="rId2"/>
          <a:stretch/>
        </p:blipFill>
        <p:spPr>
          <a:xfrm>
            <a:off x="5989320" y="1234440"/>
            <a:ext cx="5988960" cy="533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3"/>
          <p:cNvSpPr/>
          <p:nvPr/>
        </p:nvSpPr>
        <p:spPr>
          <a:xfrm>
            <a:off x="658440" y="2148840"/>
            <a:ext cx="69490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 Automation Framework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658440" y="315468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ADAD  ·  Playwright  ·  TypeScript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58440" y="3794760"/>
            <a:ext cx="5851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Quality Assurance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658440" y="58064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14/09/2026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Why this framework?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58440" y="10058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 scalable, maintainable suite for ADAD: one page object per route, reusable TestPoints, and Playwright specs that compose them.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658440" y="1645920"/>
            <a:ext cx="3520080" cy="214848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658440" y="1645920"/>
            <a:ext cx="91080" cy="214848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181044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Page Object Model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914400" y="2176200"/>
            <a:ext cx="313596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Each ADAD route has one page class that owns locators and the TestPoints that use them. UI changes stay in one file.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4343400" y="1645920"/>
            <a:ext cx="3520080" cy="214848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4343400" y="1645920"/>
            <a:ext cx="91080" cy="214848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4599360" y="181044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TestPoints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4599360" y="2176200"/>
            <a:ext cx="313596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Reusable steps with an id, description and ticket. Specs assemble TestPoints instead of duplicating clicks and assertions.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12"/>
          <p:cNvSpPr/>
          <p:nvPr/>
        </p:nvSpPr>
        <p:spPr>
          <a:xfrm>
            <a:off x="8028360" y="1645920"/>
            <a:ext cx="3520080" cy="214848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13"/>
          <p:cNvSpPr/>
          <p:nvPr/>
        </p:nvSpPr>
        <p:spPr>
          <a:xfrm>
            <a:off x="8028360" y="1645920"/>
            <a:ext cx="91080" cy="214848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8284320" y="181044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Playwright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8284320" y="2176200"/>
            <a:ext cx="313596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Typed tests, worker-scoped login, HTML/JSON reports, traces and screenshots on failure, ready for CI.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658440" y="39776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Also in the suite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658440" y="4297680"/>
            <a:ext cx="107895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YAML + .env configuration, Keycloak login, Postgres access via SSM tunnel, SFTP file injection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47 page objects covering dashboard, matching, audit track, alerts, accounting and settings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Clear split: src/ owns automation building blocks, tests/ is the only place tests run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8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20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658440" y="932760"/>
            <a:ext cx="777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Each layer only talks to the one below.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4"/>
          <p:cNvSpPr/>
          <p:nvPr/>
        </p:nvSpPr>
        <p:spPr>
          <a:xfrm>
            <a:off x="2369520" y="1280160"/>
            <a:ext cx="7452000" cy="712800"/>
          </a:xfrm>
          <a:prstGeom prst="roundRect">
            <a:avLst>
              <a:gd name="adj" fmla="val 2800"/>
            </a:avLst>
          </a:prstGeom>
          <a:solidFill>
            <a:srgbClr val="5591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2625840" y="1280160"/>
            <a:ext cx="3062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Playwright specs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5615640" y="1280160"/>
            <a:ext cx="3977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smoke · filters · navigation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7"/>
          <p:cNvSpPr/>
          <p:nvPr/>
        </p:nvSpPr>
        <p:spPr>
          <a:xfrm>
            <a:off x="1935360" y="2084760"/>
            <a:ext cx="8320680" cy="712800"/>
          </a:xfrm>
          <a:prstGeom prst="roundRect">
            <a:avLst>
              <a:gd name="adj" fmla="val 2800"/>
            </a:avLst>
          </a:prstGeom>
          <a:solidFill>
            <a:srgbClr val="347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2191320" y="2084760"/>
            <a:ext cx="3062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runTestPoints()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5181480" y="2084760"/>
            <a:ext cx="4845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Runs TestPoints in order on the logged-in page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10"/>
          <p:cNvSpPr/>
          <p:nvPr/>
        </p:nvSpPr>
        <p:spPr>
          <a:xfrm>
            <a:off x="1500840" y="2889360"/>
            <a:ext cx="9189360" cy="712800"/>
          </a:xfrm>
          <a:prstGeom prst="roundRect">
            <a:avLst>
              <a:gd name="adj" fmla="val 2800"/>
            </a:avLst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1757160" y="2889360"/>
            <a:ext cx="3062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TestPoints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4746960" y="2889360"/>
            <a:ext cx="5714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Reusable action + id + ticket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3"/>
          <p:cNvSpPr/>
          <p:nvPr/>
        </p:nvSpPr>
        <p:spPr>
          <a:xfrm>
            <a:off x="1066680" y="3694320"/>
            <a:ext cx="10058040" cy="712800"/>
          </a:xfrm>
          <a:prstGeom prst="roundRect">
            <a:avLst>
              <a:gd name="adj" fmla="val 2800"/>
            </a:avLst>
          </a:prstGeom>
          <a:solidFill>
            <a:srgbClr val="1C3A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1322640" y="3694320"/>
            <a:ext cx="3062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Page objects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4312800" y="3694320"/>
            <a:ext cx="6583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Locators and UI methods — one class per ADAD route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6"/>
          <p:cNvSpPr/>
          <p:nvPr/>
        </p:nvSpPr>
        <p:spPr>
          <a:xfrm>
            <a:off x="632160" y="4498920"/>
            <a:ext cx="10926720" cy="712800"/>
          </a:xfrm>
          <a:prstGeom prst="roundRect">
            <a:avLst>
              <a:gd name="adj" fmla="val 2800"/>
            </a:avLst>
          </a:prstGeom>
          <a:solidFill>
            <a:srgbClr val="16244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888480" y="4498920"/>
            <a:ext cx="3062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Foundation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3878280" y="4498920"/>
            <a:ext cx="7452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fixtures · navigation · configuration · SFTP / DB · Playwright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19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21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Folder structure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3"/>
          <p:cNvSpPr/>
          <p:nvPr/>
        </p:nvSpPr>
        <p:spPr>
          <a:xfrm>
            <a:off x="658440" y="1097280"/>
            <a:ext cx="5623200" cy="4525920"/>
          </a:xfrm>
          <a:prstGeom prst="roundRect">
            <a:avLst>
              <a:gd name="adj" fmla="val 3500"/>
            </a:avLst>
          </a:prstGeom>
          <a:solidFill>
            <a:srgbClr val="162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914400" y="1261800"/>
            <a:ext cx="5184360" cy="42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src/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pages/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one .page.ts per ADAD route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testpoint/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TestPoint base class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navigation/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URL navigation TestPoints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configuration/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yaml, env, login, DB, SFTP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fixtures/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worker-scoped logged-in page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tests/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runTestPoints.ts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shared TestPoint runner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smoke/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ingest + matching journeys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filters/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audit-track filter matrices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navigation/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route-by-link checks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testpoints/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registry + live inspect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framework/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TestPoint contract tests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docs/test_files/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CSV / JSONL fixtures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scripts/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page generation, DB tunnel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6583680" y="11430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How to read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6583680" y="1554480"/>
            <a:ext cx="49374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pages/ is the Page Object Model: locators live next to the TestPoints that use them.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tests/ is the only executable layer. Specs import TestPoints and call runTestPoints().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navigation/ covers every mapped ADAD URL as a reusable step.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configuration/ keeps secrets in .env and shared paths in config.yaml.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The stack is Playwright and TypeScript end to end.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7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9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TestPoints layer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658440" y="100584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 TestPoint is one reusable action: open a page, click Search, inject a file, assert a match. Specs are lists of TestPoints, not duplicated locators and clicks.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4"/>
          <p:cNvSpPr/>
          <p:nvPr/>
        </p:nvSpPr>
        <p:spPr>
          <a:xfrm>
            <a:off x="658440" y="1783080"/>
            <a:ext cx="5074560" cy="15084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5"/>
          <p:cNvSpPr/>
          <p:nvPr/>
        </p:nvSpPr>
        <p:spPr>
          <a:xfrm>
            <a:off x="658440" y="1783080"/>
            <a:ext cx="91080" cy="150840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914400" y="1947600"/>
            <a:ext cx="469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Reusable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914400" y="2313360"/>
            <a:ext cx="46904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The same step is shared by smoke, filters and navigation without rewriting locators.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8"/>
          <p:cNvSpPr/>
          <p:nvPr/>
        </p:nvSpPr>
        <p:spPr>
          <a:xfrm>
            <a:off x="6446520" y="1783080"/>
            <a:ext cx="5074560" cy="15084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9"/>
          <p:cNvSpPr/>
          <p:nvPr/>
        </p:nvSpPr>
        <p:spPr>
          <a:xfrm>
            <a:off x="6446520" y="1783080"/>
            <a:ext cx="91080" cy="150840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6702480" y="1947600"/>
            <a:ext cx="469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Traceable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1"/>
          <p:cNvSpPr/>
          <p:nvPr/>
        </p:nvSpPr>
        <p:spPr>
          <a:xfrm>
            <a:off x="6702480" y="2313360"/>
            <a:ext cx="46904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Each step carries an id, a description and a ticket id for reporting and Jira.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12"/>
          <p:cNvSpPr/>
          <p:nvPr/>
        </p:nvSpPr>
        <p:spPr>
          <a:xfrm>
            <a:off x="658440" y="3520440"/>
            <a:ext cx="5074560" cy="15084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13"/>
          <p:cNvSpPr/>
          <p:nvPr/>
        </p:nvSpPr>
        <p:spPr>
          <a:xfrm>
            <a:off x="658440" y="3520440"/>
            <a:ext cx="91080" cy="150840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4"/>
          <p:cNvSpPr/>
          <p:nvPr/>
        </p:nvSpPr>
        <p:spPr>
          <a:xfrm>
            <a:off x="914400" y="3684960"/>
            <a:ext cx="469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Maintainable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5"/>
          <p:cNvSpPr/>
          <p:nvPr/>
        </p:nvSpPr>
        <p:spPr>
          <a:xfrm>
            <a:off x="914400" y="4050720"/>
            <a:ext cx="46904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When the UI moves, you fix the page object once. Every spec that uses that TestPoint follows.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16"/>
          <p:cNvSpPr/>
          <p:nvPr/>
        </p:nvSpPr>
        <p:spPr>
          <a:xfrm>
            <a:off x="6446520" y="3520440"/>
            <a:ext cx="5074560" cy="15084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7"/>
          <p:cNvSpPr/>
          <p:nvPr/>
        </p:nvSpPr>
        <p:spPr>
          <a:xfrm>
            <a:off x="6446520" y="3520440"/>
            <a:ext cx="91080" cy="150840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8"/>
          <p:cNvSpPr/>
          <p:nvPr/>
        </p:nvSpPr>
        <p:spPr>
          <a:xfrm>
            <a:off x="6702480" y="3684960"/>
            <a:ext cx="469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Composable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9"/>
          <p:cNvSpPr/>
          <p:nvPr/>
        </p:nvSpPr>
        <p:spPr>
          <a:xfrm>
            <a:off x="6702480" y="4050720"/>
            <a:ext cx="46904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Journeys are assembled with runTestPoints([new StepA(), new StepB(), ...]).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20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1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22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Example — TestPoint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3"/>
          <p:cNvSpPr/>
          <p:nvPr/>
        </p:nvSpPr>
        <p:spPr>
          <a:xfrm>
            <a:off x="658440" y="1051560"/>
            <a:ext cx="10972440" cy="4297320"/>
          </a:xfrm>
          <a:prstGeom prst="roundRect">
            <a:avLst>
              <a:gd name="adj" fmla="val 3500"/>
            </a:avLst>
          </a:prstGeom>
          <a:solidFill>
            <a:srgbClr val="162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914400" y="1216080"/>
            <a:ext cx="10533600" cy="40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export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6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OpenManualMatchingPage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extends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6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TestPoint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constructor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()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super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  </a:t>
            </a:r>
            <a:r>
              <a:rPr lang="en-US" sz="1600" b="0" u="none" strike="noStrike">
                <a:solidFill>
                  <a:srgbClr val="A7F3D0"/>
                </a:solidFill>
                <a:effectLst/>
                <a:uFillTx/>
                <a:latin typeface="Consolas"/>
                <a:ea typeface="Consolas"/>
              </a:rPr>
              <a:t>"TP-OPEN-MANUAL_MATCHING"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  </a:t>
            </a:r>
            <a:r>
              <a:rPr lang="en-US" sz="1600" b="0" u="none" strike="noStrike">
                <a:solidFill>
                  <a:srgbClr val="A7F3D0"/>
                </a:solidFill>
                <a:effectLst/>
                <a:uFillTx/>
                <a:latin typeface="Consolas"/>
                <a:ea typeface="Consolas"/>
              </a:rPr>
              <a:t>"Open /manual-matching"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  </a:t>
            </a: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async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(page) =&gt; {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    </a:t>
            </a: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const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pom = </a:t>
            </a: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6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ManualMatchingPage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(page);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    </a:t>
            </a: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pom.goto();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    </a:t>
            </a:r>
            <a:r>
              <a:rPr lang="en-US" sz="16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pom.expectOnPage();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  },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);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5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Picture 7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Example — composing a spec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3"/>
          <p:cNvSpPr/>
          <p:nvPr/>
        </p:nvSpPr>
        <p:spPr>
          <a:xfrm>
            <a:off x="658440" y="1051560"/>
            <a:ext cx="10972440" cy="4297320"/>
          </a:xfrm>
          <a:prstGeom prst="roundRect">
            <a:avLst>
              <a:gd name="adj" fmla="val 3500"/>
            </a:avLst>
          </a:prstGeom>
          <a:solidFill>
            <a:srgbClr val="162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914400" y="1216080"/>
            <a:ext cx="10533600" cy="40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test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  <a:ea typeface="Consolas"/>
              </a:rPr>
              <a:t>"verify the manual matching"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5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async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({ loggedInPage }) =&gt; {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5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runTestPoints(loggedInPage, [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15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5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InjectFile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(salePath, adadPaths.sales, saleFileName),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15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5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TestPointNavigateToManualMatchingByLink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(),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15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5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ManualMatchingSaleUIFilterPNROrderReference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  <a:ea typeface="Consolas"/>
              </a:rPr>
              <a:t>"R4Y7W4"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),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15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5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ManualMatchingUIConfirmMatching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(),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15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5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ManualMatchingUIMatchSaleAndSettlement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(),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15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new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5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SaleUICheckIfMatchingDoneCorrectly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onsolas"/>
                <a:ea typeface="Consolas"/>
              </a:rPr>
              <a:t>"1"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),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]);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});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5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7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Page Object Model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658440" y="10058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One file per route under src/pages/. The class holds locators; exported TestPoint classes perform the actions.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4"/>
          <p:cNvSpPr/>
          <p:nvPr/>
        </p:nvSpPr>
        <p:spPr>
          <a:xfrm>
            <a:off x="658440" y="1600200"/>
            <a:ext cx="6720480" cy="3977280"/>
          </a:xfrm>
          <a:prstGeom prst="roundRect">
            <a:avLst>
              <a:gd name="adj" fmla="val 3500"/>
            </a:avLst>
          </a:prstGeom>
          <a:solidFill>
            <a:srgbClr val="1620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914400" y="1764720"/>
            <a:ext cx="6281640" cy="36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export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4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4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ManualMatchingPage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4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extends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4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BasePage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4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static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4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readonly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path = </a:t>
            </a:r>
            <a:r>
              <a:rPr lang="en-US" sz="1400" b="0" u="none" strike="noStrike">
                <a:solidFill>
                  <a:srgbClr val="A7F3D0"/>
                </a:solidFill>
                <a:effectLst/>
                <a:uFillTx/>
                <a:latin typeface="Consolas"/>
                <a:ea typeface="Consolas"/>
              </a:rPr>
              <a:t>"/manual-matching"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14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constructor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(page: </a:t>
            </a:r>
            <a:r>
              <a:rPr lang="en-US" sz="14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Page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) {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1400" b="1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super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(page, </a:t>
            </a:r>
            <a:r>
              <a:rPr lang="en-US" sz="1400" b="0" u="none" strike="noStrike">
                <a:solidFill>
                  <a:srgbClr val="FDE047"/>
                </a:solidFill>
                <a:effectLst/>
                <a:uFillTx/>
                <a:latin typeface="Consolas"/>
                <a:ea typeface="Consolas"/>
              </a:rPr>
              <a:t>ManualMatchingPage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.path);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this.search = this.findNamedButton(</a:t>
            </a:r>
            <a:r>
              <a:rPr lang="en-US" sz="1400" b="0" u="none" strike="noStrike">
                <a:solidFill>
                  <a:srgbClr val="A7F3D0"/>
                </a:solidFill>
                <a:effectLst/>
                <a:uFillTx/>
                <a:latin typeface="Consolas"/>
                <a:ea typeface="Consolas"/>
              </a:rPr>
              <a:t>"Search"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this.confirm = this.page.locator(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  </a:t>
            </a:r>
            <a:r>
              <a:rPr lang="en-US" sz="1400" b="0" u="none" strike="noStrike">
                <a:solidFill>
                  <a:srgbClr val="A7F3D0"/>
                </a:solidFill>
                <a:effectLst/>
                <a:uFillTx/>
                <a:latin typeface="Consolas"/>
                <a:ea typeface="Consolas"/>
              </a:rPr>
              <a:t>"button.ConfirmButton"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99"/>
              </a:spcBef>
              <a:spcAft>
                <a:spcPts val="99"/>
              </a:spcAf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7589520" y="160020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Benefits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7"/>
          <p:cNvSpPr/>
          <p:nvPr/>
        </p:nvSpPr>
        <p:spPr>
          <a:xfrm>
            <a:off x="7589520" y="2011680"/>
            <a:ext cx="393156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Reusable locators via BasePage helpers (tabs, dropdowns, date pickers, export).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UI changes stay in the page class, not in every spec.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TestPoints on the same file keep action and selector together.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Inventory lists every route so registry tests can inspect coverage.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8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10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Execution and reporting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3"/>
          <p:cNvSpPr/>
          <p:nvPr/>
        </p:nvSpPr>
        <p:spPr>
          <a:xfrm>
            <a:off x="658440" y="1097280"/>
            <a:ext cx="3520080" cy="214848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4"/>
          <p:cNvSpPr/>
          <p:nvPr/>
        </p:nvSpPr>
        <p:spPr>
          <a:xfrm>
            <a:off x="658440" y="1097280"/>
            <a:ext cx="3520080" cy="1094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5"/>
          <p:cNvSpPr/>
          <p:nvPr/>
        </p:nvSpPr>
        <p:spPr>
          <a:xfrm>
            <a:off x="859680" y="13258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VS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6"/>
          <p:cNvSpPr/>
          <p:nvPr/>
        </p:nvSpPr>
        <p:spPr>
          <a:xfrm>
            <a:off x="859680" y="1737360"/>
            <a:ext cx="31086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Playwright Test panel or Testing view. Run a spec, a TestPoint health check, or the full suite headed / UI mode.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7"/>
          <p:cNvSpPr/>
          <p:nvPr/>
        </p:nvSpPr>
        <p:spPr>
          <a:xfrm>
            <a:off x="4361760" y="1097280"/>
            <a:ext cx="3520080" cy="214848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ectangle 8"/>
          <p:cNvSpPr/>
          <p:nvPr/>
        </p:nvSpPr>
        <p:spPr>
          <a:xfrm>
            <a:off x="4361760" y="1097280"/>
            <a:ext cx="3520080" cy="1094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9"/>
          <p:cNvSpPr/>
          <p:nvPr/>
        </p:nvSpPr>
        <p:spPr>
          <a:xfrm>
            <a:off x="4563000" y="13258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Command 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0"/>
          <p:cNvSpPr/>
          <p:nvPr/>
        </p:nvSpPr>
        <p:spPr>
          <a:xfrm>
            <a:off x="4563000" y="1737360"/>
            <a:ext cx="31086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onsolas"/>
                <a:ea typeface="Consolas"/>
              </a:rPr>
              <a:t>npx playwright test tests/smoke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onsolas"/>
                <a:ea typeface="Consolas"/>
              </a:rPr>
              <a:t>npm run test:filters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onsolas"/>
                <a:ea typeface="Consolas"/>
              </a:rPr>
              <a:t>npm run test:testpoints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1"/>
          <p:cNvSpPr/>
          <p:nvPr/>
        </p:nvSpPr>
        <p:spPr>
          <a:xfrm>
            <a:off x="8065080" y="1097280"/>
            <a:ext cx="3520080" cy="214848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12"/>
          <p:cNvSpPr/>
          <p:nvPr/>
        </p:nvSpPr>
        <p:spPr>
          <a:xfrm>
            <a:off x="8065080" y="1097280"/>
            <a:ext cx="3520080" cy="1094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3"/>
          <p:cNvSpPr/>
          <p:nvPr/>
        </p:nvSpPr>
        <p:spPr>
          <a:xfrm>
            <a:off x="8266320" y="13258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CI / CD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4"/>
          <p:cNvSpPr/>
          <p:nvPr/>
        </p:nvSpPr>
        <p:spPr>
          <a:xfrm>
            <a:off x="8266320" y="1737360"/>
            <a:ext cx="31086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playwright.config.ts already sets CI retries, HTML + JSON reporters, traces, screenshots and video on failure.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5"/>
          <p:cNvSpPr/>
          <p:nvPr/>
        </p:nvSpPr>
        <p:spPr>
          <a:xfrm>
            <a:off x="658440" y="3474720"/>
            <a:ext cx="10881000" cy="529920"/>
          </a:xfrm>
          <a:prstGeom prst="roundRect">
            <a:avLst>
              <a:gd name="adj" fmla="val 25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6"/>
          <p:cNvSpPr/>
          <p:nvPr/>
        </p:nvSpPr>
        <p:spPr>
          <a:xfrm>
            <a:off x="887040" y="347472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HTML report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7"/>
          <p:cNvSpPr/>
          <p:nvPr/>
        </p:nvSpPr>
        <p:spPr>
          <a:xfrm>
            <a:off x="3383280" y="3474720"/>
            <a:ext cx="7863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playwright-report/ — timeline, traces, screenshots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18"/>
          <p:cNvSpPr/>
          <p:nvPr/>
        </p:nvSpPr>
        <p:spPr>
          <a:xfrm>
            <a:off x="658440" y="4078080"/>
            <a:ext cx="10881000" cy="529920"/>
          </a:xfrm>
          <a:prstGeom prst="roundRect">
            <a:avLst>
              <a:gd name="adj" fmla="val 25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9"/>
          <p:cNvSpPr/>
          <p:nvPr/>
        </p:nvSpPr>
        <p:spPr>
          <a:xfrm>
            <a:off x="887040" y="407808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JSON results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0"/>
          <p:cNvSpPr/>
          <p:nvPr/>
        </p:nvSpPr>
        <p:spPr>
          <a:xfrm>
            <a:off x="3383280" y="4078080"/>
            <a:ext cx="7863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reports/playwright-results.json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21"/>
          <p:cNvSpPr/>
          <p:nvPr/>
        </p:nvSpPr>
        <p:spPr>
          <a:xfrm>
            <a:off x="658440" y="4681800"/>
            <a:ext cx="10881000" cy="529920"/>
          </a:xfrm>
          <a:prstGeom prst="roundRect">
            <a:avLst>
              <a:gd name="adj" fmla="val 25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2"/>
          <p:cNvSpPr/>
          <p:nvPr/>
        </p:nvSpPr>
        <p:spPr>
          <a:xfrm>
            <a:off x="887040" y="468180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Per-test logs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3"/>
          <p:cNvSpPr/>
          <p:nvPr/>
        </p:nvSpPr>
        <p:spPr>
          <a:xfrm>
            <a:off x="3383280" y="4681800"/>
            <a:ext cx="7863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logs/&lt;date&gt;/… with TestPoint start / fail lines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24"/>
          <p:cNvSpPr/>
          <p:nvPr/>
        </p:nvSpPr>
        <p:spPr>
          <a:xfrm>
            <a:off x="658440" y="5285160"/>
            <a:ext cx="10881000" cy="529920"/>
          </a:xfrm>
          <a:prstGeom prst="roundRect">
            <a:avLst>
              <a:gd name="adj" fmla="val 25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5"/>
          <p:cNvSpPr/>
          <p:nvPr/>
        </p:nvSpPr>
        <p:spPr>
          <a:xfrm>
            <a:off x="887040" y="52851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Failure artefacts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6"/>
          <p:cNvSpPr/>
          <p:nvPr/>
        </p:nvSpPr>
        <p:spPr>
          <a:xfrm>
            <a:off x="3383280" y="5285160"/>
            <a:ext cx="78634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trace, screenshot and video retained on fail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27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8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Picture 29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Next challenges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658440" y="987480"/>
            <a:ext cx="10789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The framework is in place. The interesting work is keeping tests true to ADAD: same data, same behaviour, every release.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4"/>
          <p:cNvSpPr/>
          <p:nvPr/>
        </p:nvSpPr>
        <p:spPr>
          <a:xfrm>
            <a:off x="658440" y="1508760"/>
            <a:ext cx="5348880" cy="411444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5"/>
          <p:cNvSpPr/>
          <p:nvPr/>
        </p:nvSpPr>
        <p:spPr>
          <a:xfrm>
            <a:off x="658440" y="1508760"/>
            <a:ext cx="91080" cy="41144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951120" y="1664280"/>
            <a:ext cx="484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Data reproduction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951120" y="2121480"/>
            <a:ext cx="480024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4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Rebuild a known molecule: sales, settlements, bank deposits, dates and currencies.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4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Scenario packs already exist: correct, discrepancy, duplicate, late, sealed, many-to-many, EUR vs TND.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4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Inject over SFTP, wait for ETL, then assert in the UI and in Postgres.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4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Staging is shared — leftover files and matches pollute the next run. Isolation and cleanup are the next step.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8"/>
          <p:cNvSpPr/>
          <p:nvPr/>
        </p:nvSpPr>
        <p:spPr>
          <a:xfrm>
            <a:off x="6199560" y="1508760"/>
            <a:ext cx="5348880" cy="411444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9"/>
          <p:cNvSpPr/>
          <p:nvPr/>
        </p:nvSpPr>
        <p:spPr>
          <a:xfrm>
            <a:off x="6199560" y="1508760"/>
            <a:ext cx="91080" cy="41144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0"/>
          <p:cNvSpPr/>
          <p:nvPr/>
        </p:nvSpPr>
        <p:spPr>
          <a:xfrm>
            <a:off x="6492240" y="1664280"/>
            <a:ext cx="484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Each new ADAD version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1"/>
          <p:cNvSpPr/>
          <p:nvPr/>
        </p:nvSpPr>
        <p:spPr>
          <a:xfrm>
            <a:off x="6492240" y="2121480"/>
            <a:ext cx="480024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4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 release can move a locator, add a route, or change a matching / alert rule.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4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47 page objects must track the product, not last month’s UI.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4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Button catalog + gen-pages catch new controls; hand-maintained pages stay for journeys.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lang="en-US" sz="14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–  </a:t>
            </a: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The TestPoint registry should fail loudly when a version ships uncovered screens.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12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3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Picture 14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1"/>
          <p:cNvSpPr/>
          <p:nvPr/>
        </p:nvSpPr>
        <p:spPr>
          <a:xfrm>
            <a:off x="9692640" y="1645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CONFIDENTIAL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"/>
          <p:cNvSpPr/>
          <p:nvPr/>
        </p:nvSpPr>
        <p:spPr>
          <a:xfrm>
            <a:off x="658440" y="25596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What makes it interesting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658440" y="987480"/>
            <a:ext cx="10789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This is not a static UI suite. Tests run against a live reconciliation product, with real timing, data and risk.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4"/>
          <p:cNvSpPr/>
          <p:nvPr/>
        </p:nvSpPr>
        <p:spPr>
          <a:xfrm>
            <a:off x="658440" y="1481400"/>
            <a:ext cx="3520080" cy="187416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5"/>
          <p:cNvSpPr/>
          <p:nvPr/>
        </p:nvSpPr>
        <p:spPr>
          <a:xfrm>
            <a:off x="658440" y="1481400"/>
            <a:ext cx="91080" cy="187416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6"/>
          <p:cNvSpPr/>
          <p:nvPr/>
        </p:nvSpPr>
        <p:spPr>
          <a:xfrm>
            <a:off x="914400" y="164592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Shared QA, not a sandbox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7"/>
          <p:cNvSpPr/>
          <p:nvPr/>
        </p:nvSpPr>
        <p:spPr>
          <a:xfrm>
            <a:off x="914400" y="2011680"/>
            <a:ext cx="313596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Keycloak, SFTP, SSM tunnel and one staging schema. Tests compete with other users and leftover 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8"/>
          <p:cNvSpPr/>
          <p:nvPr/>
        </p:nvSpPr>
        <p:spPr>
          <a:xfrm>
            <a:off x="4343400" y="1481400"/>
            <a:ext cx="3520080" cy="187416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9"/>
          <p:cNvSpPr/>
          <p:nvPr/>
        </p:nvSpPr>
        <p:spPr>
          <a:xfrm>
            <a:off x="4343400" y="1481400"/>
            <a:ext cx="91080" cy="187416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0"/>
          <p:cNvSpPr/>
          <p:nvPr/>
        </p:nvSpPr>
        <p:spPr>
          <a:xfrm>
            <a:off x="4599360" y="164592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Async ingestion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1"/>
          <p:cNvSpPr/>
          <p:nvPr/>
        </p:nvSpPr>
        <p:spPr>
          <a:xfrm>
            <a:off x="4599360" y="2011680"/>
            <a:ext cx="313596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 file is not in ADAD when SFTP returns. ETL, File Dashboard and Trigger now decide when matching can start.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2"/>
          <p:cNvSpPr/>
          <p:nvPr/>
        </p:nvSpPr>
        <p:spPr>
          <a:xfrm>
            <a:off x="8028360" y="1481400"/>
            <a:ext cx="3520080" cy="187416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13"/>
          <p:cNvSpPr/>
          <p:nvPr/>
        </p:nvSpPr>
        <p:spPr>
          <a:xfrm>
            <a:off x="8028360" y="1481400"/>
            <a:ext cx="91080" cy="187416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4"/>
          <p:cNvSpPr/>
          <p:nvPr/>
        </p:nvSpPr>
        <p:spPr>
          <a:xfrm>
            <a:off x="8284320" y="164592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Filters from live Postgres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5"/>
          <p:cNvSpPr/>
          <p:nvPr/>
        </p:nvSpPr>
        <p:spPr>
          <a:xfrm>
            <a:off x="8284320" y="2011680"/>
            <a:ext cx="313596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Audit-track matrices are built from real rows, not hardcoded IDs — including empty and negative combinations.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16"/>
          <p:cNvSpPr/>
          <p:nvPr/>
        </p:nvSpPr>
        <p:spPr>
          <a:xfrm>
            <a:off x="658440" y="3520440"/>
            <a:ext cx="3520080" cy="187416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17"/>
          <p:cNvSpPr/>
          <p:nvPr/>
        </p:nvSpPr>
        <p:spPr>
          <a:xfrm>
            <a:off x="658440" y="3520440"/>
            <a:ext cx="91080" cy="187416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18"/>
          <p:cNvSpPr/>
          <p:nvPr/>
        </p:nvSpPr>
        <p:spPr>
          <a:xfrm>
            <a:off x="914400" y="368496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One worker, one session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9"/>
          <p:cNvSpPr/>
          <p:nvPr/>
        </p:nvSpPr>
        <p:spPr>
          <a:xfrm>
            <a:off x="914400" y="4050720"/>
            <a:ext cx="313596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Login is worker-scoped. Parallel runs would collide on files, matches and the date-range limit (max one month).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20"/>
          <p:cNvSpPr/>
          <p:nvPr/>
        </p:nvSpPr>
        <p:spPr>
          <a:xfrm>
            <a:off x="4343400" y="3520440"/>
            <a:ext cx="3520080" cy="187416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ectangle 21"/>
          <p:cNvSpPr/>
          <p:nvPr/>
        </p:nvSpPr>
        <p:spPr>
          <a:xfrm>
            <a:off x="4343400" y="3520440"/>
            <a:ext cx="91080" cy="187416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22"/>
          <p:cNvSpPr/>
          <p:nvPr/>
        </p:nvSpPr>
        <p:spPr>
          <a:xfrm>
            <a:off x="4599360" y="368496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Domain depth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3"/>
          <p:cNvSpPr/>
          <p:nvPr/>
        </p:nvSpPr>
        <p:spPr>
          <a:xfrm>
            <a:off x="4599360" y="4050720"/>
            <a:ext cx="313596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FX, payment-order grouping, alerts, accounting periods. Next journeys: sanity-check alerts and ledger posting.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24"/>
          <p:cNvSpPr/>
          <p:nvPr/>
        </p:nvSpPr>
        <p:spPr>
          <a:xfrm>
            <a:off x="8028360" y="3520440"/>
            <a:ext cx="3520080" cy="187416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25"/>
          <p:cNvSpPr/>
          <p:nvPr/>
        </p:nvSpPr>
        <p:spPr>
          <a:xfrm>
            <a:off x="8028360" y="3520440"/>
            <a:ext cx="91080" cy="187416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6"/>
          <p:cNvSpPr/>
          <p:nvPr/>
        </p:nvSpPr>
        <p:spPr>
          <a:xfrm>
            <a:off x="8284320" y="3684960"/>
            <a:ext cx="313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Coverage vs risk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7"/>
          <p:cNvSpPr/>
          <p:nvPr/>
        </p:nvSpPr>
        <p:spPr>
          <a:xfrm>
            <a:off x="8284320" y="4050720"/>
            <a:ext cx="313596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Inspect-only TestPoints for destructive buttons. CI still depends on the tunnel, staging and a clean molecule.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28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29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Picture 30" descr="mc_footer.png"/>
          <p:cNvPicPr/>
          <p:nvPr/>
        </p:nvPicPr>
        <p:blipFill>
          <a:blip r:embed="rId1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1" descr="handshake.png"/>
          <p:cNvPicPr/>
          <p:nvPr/>
        </p:nvPicPr>
        <p:blipFill>
          <a:blip r:embed="rId1"/>
          <a:stretch/>
        </p:blipFill>
        <p:spPr>
          <a:xfrm>
            <a:off x="502920" y="502920"/>
            <a:ext cx="4064400" cy="534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Box 2"/>
          <p:cNvSpPr/>
          <p:nvPr/>
        </p:nvSpPr>
        <p:spPr>
          <a:xfrm>
            <a:off x="5989320" y="1417320"/>
            <a:ext cx="5303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Thank you.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3"/>
          <p:cNvSpPr/>
          <p:nvPr/>
        </p:nvSpPr>
        <p:spPr>
          <a:xfrm>
            <a:off x="5989320" y="2423160"/>
            <a:ext cx="5303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r>
              <a:rPr lang="en-US" sz="2200" b="0" u="none" strike="noStrike">
                <a:solidFill>
                  <a:srgbClr val="162447"/>
                </a:solidFill>
                <a:effectLst/>
                <a:uFillTx/>
                <a:latin typeface="Calibri"/>
                <a:ea typeface="Calibri"/>
              </a:rPr>
              <a:t>ADAD Test Automation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162447"/>
                </a:solidFill>
                <a:effectLst/>
                <a:uFillTx/>
                <a:latin typeface="Calibri"/>
                <a:ea typeface="Calibri"/>
              </a:rPr>
              <a:t>Playwright · TypeScript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4"/>
          <p:cNvSpPr/>
          <p:nvPr/>
        </p:nvSpPr>
        <p:spPr>
          <a:xfrm>
            <a:off x="5989320" y="370332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569ED"/>
                </a:solidFill>
                <a:effectLst/>
                <a:uFillTx/>
                <a:latin typeface="Calibri"/>
                <a:ea typeface="Calibri"/>
              </a:rPr>
              <a:t>mnc.aero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5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solidFill>
            <a:srgbClr val="2569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0" y="6053400"/>
            <a:ext cx="1219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Picture 7" descr="mc_footer.png"/>
          <p:cNvPicPr/>
          <p:nvPr/>
        </p:nvPicPr>
        <p:blipFill>
          <a:blip r:embed="rId2"/>
          <a:stretch/>
        </p:blipFill>
        <p:spPr>
          <a:xfrm>
            <a:off x="11018520" y="6217920"/>
            <a:ext cx="91404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